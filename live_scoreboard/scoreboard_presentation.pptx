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Real-Time Multi-Sport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4FF"/>
                </a:solidFill>
                <a:latin typeface="Calibri"/>
              </a:defRPr>
            </a:pPr>
            <a:r>
              <a:t>A Streaming Data Engineering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NBA  |  NFL  |  Premier League  |  La Liga  |  Champions League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Apache Kafka  +  PySpark Structured Streaming  +  PostgreSQL  +  Flask  +  Docker Compose</a:t>
            </a:r>
          </a:p>
          <a:p>
            <a:pPr algn="ctr">
              <a:spcBef>
                <a:spcPts val="600"/>
              </a:spcBef>
              <a:defRPr sz="1400" b="0">
                <a:solidFill>
                  <a:srgbClr val="999999"/>
                </a:solidFill>
                <a:latin typeface="Calibri"/>
              </a:defRPr>
            </a:pPr>
            <a:r>
              <a:t>14 services  |  5 Kafka topics  |  4 database tables  |  3 parallel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Problem &amp;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Sports data generated in real time across multiple leagues, APIs, and formats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Different consumers need different views: fans want live scores, analysts want SQL-queryable data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Must decouple producers from consumers and handle bursty concurrent updates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APIs have rate limits -- need caching, deduplication, and smart polling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5544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Three Parallel Pipelines</a:t>
            </a:r>
          </a:p>
          <a:p>
            <a:pPr algn="l">
              <a:spcBef>
                <a:spcPts val="1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  Pipeline 1 -- Live Scoreboard UI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Sources -&gt; Kafka -&gt; Flask -&gt; Browser (3s refresh)</a:t>
            </a:r>
          </a:p>
          <a:p>
            <a:pPr algn="l">
              <a:spcBef>
                <a:spcPts val="1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  Pipeline 2 -- Streaming Analytics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Sources -&gt; Kafka -&gt; PySpark -&gt; PostgreSQL (3 tables)</a:t>
            </a:r>
          </a:p>
          <a:p>
            <a:pPr algn="l">
              <a:spcBef>
                <a:spcPts val="1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  Pipeline 3 -- Batch Player Stats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ESPN/nba_api -&gt; psycopg2 -&gt; PostgreSQL (every 6h)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Supported Leagues &amp; 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103120" cy="4114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904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League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463040"/>
            <a:ext cx="2286000" cy="4114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490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Sport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463040"/>
            <a:ext cx="3840480" cy="4114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4904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Data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63040"/>
            <a:ext cx="1828800" cy="4114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4904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Basketball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965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nba_api Python SDK + ESPN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NFL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American Football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2468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ESPN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971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Premier League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Soccer (England)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971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ESPN REST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747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La Liga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Soccer (Spain)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474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ESPN REST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977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Champions League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3977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Soccer (Europe)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60" y="3977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ESPN REST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977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676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754880"/>
            <a:ext cx="10332720" cy="1645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484632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All data sources are FREE with no API keys required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99999"/>
                </a:solidFill>
                <a:latin typeface="Calibri"/>
              </a:defRPr>
            </a:pPr>
            <a:r>
              <a:t>ESPN endpoints: site.api.espn.com/apis/site/v2/sports/{sport}/{league}/scoreboard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99999"/>
                </a:solidFill>
                <a:latin typeface="Calibri"/>
              </a:defRPr>
            </a:pPr>
            <a:r>
              <a:t>Match details: .../summary?event={id} -- goals, cards, subs, commentary, lineups, 20+ stats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999999"/>
                </a:solidFill>
                <a:latin typeface="Calibri"/>
              </a:defRPr>
            </a:pPr>
            <a:r>
              <a:t>Dynamic cache TTL: 3s for live soccer, 5s for live NFL, 30s for finished games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53035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urier New"/>
              </a:defRPr>
            </a:pPr>
            <a:r>
              <a:t>                        DATA SOURCES</a:t>
            </a:r>
            <a:br/>
            <a:r>
              <a:t>    nba_api       ESPN NFL      ESPN PL      ESPN Liga     ESPN UCL</a:t>
            </a:r>
            <a:br/>
            <a:r>
              <a:t>       |              |              |              |              |</a:t>
            </a:r>
            <a:br/>
            <a:r>
              <a:t>       v              v              v              v              v</a:t>
            </a:r>
            <a:br/>
            <a:r>
              <a:t>                   KAFKA PRODUCERS (Python, 3-10s intervals)</a:t>
            </a:r>
            <a:br/>
            <a:r>
              <a:t>                   Enriched messages: scores + events + stats + lineups</a:t>
            </a:r>
            <a:br/>
            <a:r>
              <a:t>       |              |              |              |              |</a:t>
            </a:r>
            <a:br/>
            <a:r>
              <a:t>       v              v              v              v              v</a:t>
            </a:r>
            <a:br/>
            <a:r>
              <a:t>  [nba_scores]  [nfl_scores]  [pl_scores]  [liga_scores]  [cl_scores]</a:t>
            </a:r>
            <a:br/>
            <a:r>
              <a:t>                              |</a:t>
            </a:r>
            <a:br/>
            <a:r>
              <a:t>              +---------------+----------------+</a:t>
            </a:r>
            <a:br/>
            <a:r>
              <a:t>              v                                v</a:t>
            </a:r>
            <a:br/>
            <a:r>
              <a:t>   FLASK SCOREBOARD UI              PYSPARK STRUCTURED STREAMING</a:t>
            </a:r>
            <a:br/>
            <a:r>
              <a:t>   + Match Trackers                 foreachBatch -&gt; 3 JDBC tables</a:t>
            </a:r>
            <a:br/>
            <a:r>
              <a:t>   + Tabs: Live/Stats/Lineups            |</a:t>
            </a:r>
            <a:br/>
            <a:r>
              <a:t>              |                           v</a:t>
            </a:r>
            <a:br/>
            <a:r>
              <a:t>              v                     PostgreSQL :5433</a:t>
            </a:r>
            <a:br/>
            <a:r>
              <a:t>   Web Browser :5050                (game_scores, match_events, period_scores)</a:t>
            </a:r>
            <a:br/>
            <a:br/>
            <a:r>
              <a:t>              PLAYER STATS BATCH FETCHER (every 6 hours)</a:t>
            </a:r>
            <a:br/>
            <a:r>
              <a:t>              nba_api + ESPN -&gt; psycopg2 -&gt; PostgreSQL (player_season_stats)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65760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Python 3.11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087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All producers, UI, Spark job, stats fetcher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65760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Apache Kafka 3.7.0 (KRaft)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Event streaming, topic-based pub/sub, no ZooKeeper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365760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Apache Spark 3.5.0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Structured Streaming, micro-batch to 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365760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2918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Persistent analytics store (4 tables)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365760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Flask 3.x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8862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Scoreboard UI backend with background Kafka consumer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365760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kafka-python-ng 2.x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4805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Producer + consumer library with retry/backoff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29200"/>
            <a:ext cx="365760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Docker Compose 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074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Full-stack orchestration -- 14 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23560"/>
            <a:ext cx="3657600" cy="502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  <a:latin typeface="Calibri"/>
              </a:defRPr>
            </a:pPr>
            <a:r>
              <a:t>Kafka UI 0.7.2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6692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Topic and consumer group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Kafka Layer &amp; Enriched Message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 Kafka Topics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00E676"/>
                </a:solidFill>
                <a:latin typeface="Calibri"/>
              </a:defRPr>
            </a:pPr>
            <a:r>
              <a:t>  nba_scores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00E676"/>
                </a:solidFill>
                <a:latin typeface="Calibri"/>
              </a:defRPr>
            </a:pPr>
            <a:r>
              <a:t>  nfl_scores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00E676"/>
                </a:solidFill>
                <a:latin typeface="Calibri"/>
              </a:defRPr>
            </a:pPr>
            <a:r>
              <a:t>  premier_league_scores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00E676"/>
                </a:solidFill>
                <a:latin typeface="Calibri"/>
              </a:defRPr>
            </a:pPr>
            <a:r>
              <a:t>  la_liga_scores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00E676"/>
                </a:solidFill>
                <a:latin typeface="Calibri"/>
              </a:defRPr>
            </a:pPr>
            <a:r>
              <a:t>  champions_league_scores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6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Fingerprint Deduplication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Only publishes when scores, statuses,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or play counts actually change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Avoids flooding Kafka with identical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188720"/>
            <a:ext cx="6217920" cy="53035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0" y="128016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E676"/>
                </a:solidFill>
                <a:latin typeface="Courier New"/>
              </a:defRPr>
            </a:pPr>
            <a:r>
              <a:t>{</a:t>
            </a:r>
            <a:br/>
            <a:r>
              <a:t>  "league": "premier_league",</a:t>
            </a:r>
            <a:br/>
            <a:r>
              <a:t>  "games": [{</a:t>
            </a:r>
            <a:br/>
            <a:r>
              <a:t>    "gameId": "672341",</a:t>
            </a:r>
            <a:br/>
            <a:r>
              <a:t>    "statusText": "Second Half - 67'",</a:t>
            </a:r>
            <a:br/>
            <a:r>
              <a:t>    "homeTeam": {"teamName": "Liverpool", "score": 2},</a:t>
            </a:r>
            <a:br/>
            <a:r>
              <a:t>    "awayTeam": {"teamName": "Man City", "score": 1},</a:t>
            </a:r>
            <a:br/>
            <a:r>
              <a:t>    "periods": [...],</a:t>
            </a:r>
            <a:br/>
            <a:r>
              <a:t>    "events": [{"type":"goal","minute":23,</a:t>
            </a:r>
            <a:br/>
            <a:r>
              <a:t>                "player":"Salah","team":"Liverpool"}],</a:t>
            </a:r>
            <a:br/>
            <a:r>
              <a:t>    "stats": {"possession":["62.3","37.7"],</a:t>
            </a:r>
            <a:br/>
            <a:r>
              <a:t>              "shots":["15","7"], ...20+ fields},</a:t>
            </a:r>
            <a:br/>
            <a:r>
              <a:t>    "plays": [{"minute":"67'",</a:t>
            </a:r>
            <a:br/>
            <a:r>
              <a:t>               "text":"Goal! Salah header...",</a:t>
            </a:r>
            <a:br/>
            <a:r>
              <a:t>               "type":"goal"}],</a:t>
            </a:r>
            <a:br/>
            <a:r>
              <a:t>    "lineups": [{"team":"Liverpool",</a:t>
            </a:r>
            <a:br/>
            <a:r>
              <a:t>                 "color":"#C8102E",</a:t>
            </a:r>
            <a:br/>
            <a:r>
              <a:t>                 "formation":"4-3-3",</a:t>
            </a:r>
            <a:br/>
            <a:r>
              <a:t>                 "players":[...]}]</a:t>
            </a:r>
            <a:br/>
            <a:r>
              <a:t>  }]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Live Scoreboard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main_score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669280" cy="8313468"/>
          </a:xfrm>
          <a:prstGeom prst="rect">
            <a:avLst/>
          </a:prstGeom>
        </p:spPr>
      </p:pic>
      <p:pic>
        <p:nvPicPr>
          <p:cNvPr id="5" name="Picture 4" descr="03_after_wa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5486400" cy="129830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Dark-themed web interface at localhost:5050  |  Auto-refreshes every 3 seconds  |  Click any match for live tracker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Live Match Tracker Deep 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live_tra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12983051"/>
          </a:xfrm>
          <a:prstGeom prst="rect">
            <a:avLst/>
          </a:prstGeom>
        </p:spPr>
      </p:pic>
      <p:pic>
        <p:nvPicPr>
          <p:cNvPr id="5" name="Picture 4" descr="05_nba_live_tra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133130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7548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SVG pitch/court/field with animated ball (BallController)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Smooth CSS cubic-bezier transitions between positions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Possession indicator, momentum timeline, live commentary feed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Text-based position inference from ESPN commentary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4754880"/>
            <a:ext cx="4389120" cy="164592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484632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Calibri"/>
              </a:defRPr>
            </a:pPr>
            <a:r>
              <a:t>Free Data Limitation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ESPN text data: ~60-70% accuracy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Paid feeds (Sportradar/Opta):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00E676"/>
                </a:solidFill>
                <a:latin typeface="Calibri"/>
              </a:defRPr>
            </a:pPr>
            <a:r>
              <a:t>  100% accuracy, sub-second updates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Spark Streaming to PostgreSQL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Pipeline Stages</a:t>
            </a:r>
          </a:p>
          <a:p>
            <a:pPr algn="l">
              <a:spcBef>
                <a:spcPts val="1200"/>
              </a:spcBef>
              <a:defRPr sz="1500" b="1">
                <a:solidFill>
                  <a:srgbClr val="00E676"/>
                </a:solidFill>
                <a:latin typeface="Calibri"/>
              </a:defRPr>
            </a:pPr>
            <a:r>
              <a:t>  1. Read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Spark Structured Streaming subscribes to all 5 Kafka topics</a:t>
            </a:r>
          </a:p>
          <a:p>
            <a:pPr algn="l">
              <a:spcBef>
                <a:spcPts val="1200"/>
              </a:spcBef>
              <a:defRPr sz="1500" b="1">
                <a:solidFill>
                  <a:srgbClr val="00E676"/>
                </a:solidFill>
                <a:latin typeface="Calibri"/>
              </a:defRPr>
            </a:pPr>
            <a:r>
              <a:t>  2. Parse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JSON deserialized with enhanced schema (games + events + periods)</a:t>
            </a:r>
          </a:p>
          <a:p>
            <a:pPr algn="l">
              <a:spcBef>
                <a:spcPts val="1200"/>
              </a:spcBef>
              <a:defRPr sz="1500" b="1">
                <a:solidFill>
                  <a:srgbClr val="00E676"/>
                </a:solidFill>
                <a:latin typeface="Calibri"/>
              </a:defRPr>
            </a:pPr>
            <a:r>
              <a:t>  3. Transform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explode() flattens into rows for each destination table</a:t>
            </a:r>
          </a:p>
          <a:p>
            <a:pPr algn="l">
              <a:spcBef>
                <a:spcPts val="1200"/>
              </a:spcBef>
              <a:defRPr sz="1500" b="1">
                <a:solidFill>
                  <a:srgbClr val="00E676"/>
                </a:solidFill>
                <a:latin typeface="Calibri"/>
              </a:defRPr>
            </a:pPr>
            <a:r>
              <a:t>  4. Write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  foreachBatch writes to 3 PostgreSQL tables via JDBC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46304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Target Tables</a:t>
            </a:r>
          </a:p>
          <a:p>
            <a:pPr algn="l">
              <a:spcBef>
                <a:spcPts val="10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game_scores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Score snapshots (append-only time series)</a:t>
            </a:r>
          </a:p>
          <a:p>
            <a:pPr algn="l">
              <a:spcBef>
                <a:spcPts val="10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match_events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Goals, cards, substitutions (soccer)</a:t>
            </a:r>
          </a:p>
          <a:p>
            <a:pPr algn="l">
              <a:spcBef>
                <a:spcPts val="10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  period_scores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  Quarter/half score breakdowns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389120"/>
            <a:ext cx="5029200" cy="2011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44805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Configuration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Trigger: processingTime = 10 seconds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Checkpoint: /tmp/spark_checkpoint/scoreboard_v2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Spark Master: spark://spark-master:7077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CCCCCC"/>
                </a:solidFill>
                <a:latin typeface="Calibri"/>
              </a:defRPr>
            </a:pPr>
            <a:r>
              <a:t>  JARs: Pre-downloaded at Docker build time (no Maven at runtime)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Code Quality &amp; Engineering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914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Shared Soccer Engine (DRY)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3 league producers are 12-line wrappers around shared/soccer_producer.py -- eliminates ~500 lines of duplication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23160"/>
            <a:ext cx="5303520" cy="914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Structured Logging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All Python files use the logging module with timestamps and severity levels instead of print()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5303520" cy="914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Docstrings &amp; Constants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Every public function documented; magic numbers extracted to named constants (MAX_DRIVES, SUMMARY_TTL_LIVE, etc.)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26279"/>
            <a:ext cx="5303520" cy="914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7199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Pinned Dependencies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All 8 requirements.txt files use version range pins (&gt;=x,&lt;y) for reproducible builds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03520" cy="914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HTML Escaping (XSS)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escapeHtml() applied to 40+ dynamic content insertions in the frontend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23160"/>
            <a:ext cx="5303520" cy="914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Kafka Retry with Backoff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Consumer wraps in while-True with exponential backoff (3s to 30s max)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74720"/>
            <a:ext cx="5303520" cy="914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Specific Exception Handling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requests.RequestException, json.JSONDecodeError, KeyError instead of bare except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526279"/>
            <a:ext cx="5303520" cy="914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57199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Docker Image Pinning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kafka:3.7.0, kafka-ui:v0.7.2, postgres:16, spark:3.5.0 -- no :latest tags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Code Review Score: 8.5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Production Scaling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A500"/>
                </a:solidFill>
                <a:latin typeface="Calibri"/>
              </a:defRPr>
            </a:pPr>
            <a:r>
              <a:t>Production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Paid Data Providers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Sportradar, Opta, Genius Sports for real-time x,y coordinate tracking and sub-second updates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4864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WebSocket / SSE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Replace HTTP polling with push-based updates for lower latency delivery to 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54864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Redis State Store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Cache live match state for instant reads, pub/sub fanout to multiple UI instances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54864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Grafana Dashboards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Connect to PostgreSQL for real-time analytics visualization and alerting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  <a:latin typeface="Calibri"/>
              </a:defRPr>
            </a:pPr>
            <a:r>
              <a:t>Future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828800"/>
            <a:ext cx="54864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ML Predictions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Win probability models trained on historical score progression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34640"/>
            <a:ext cx="54864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803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Horizontal Scaling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Kafka partitions, Spark workers, load-balanced Flask instances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4864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862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CI/CD Pipeline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GitHub Actions: lint, test, build images, push to container registry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846320"/>
            <a:ext cx="5486400" cy="86868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8920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  <a:latin typeface="Calibri"/>
              </a:defRPr>
            </a:pPr>
            <a:r>
              <a:t>More Leagues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CCCCCC"/>
                </a:solidFill>
                <a:latin typeface="Calibri"/>
              </a:defRPr>
            </a:pPr>
            <a:r>
              <a:t>Bundesliga, Serie A, MLS, MLB, NHL -- architecture supports any league with a public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77840"/>
            <a:ext cx="11247120" cy="91440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  <a:latin typeface="Calibri"/>
              </a:defRPr>
            </a:pPr>
            <a:r>
              <a:t>Key Insight: The #1 bottleneck for live tracker quality is the data source, not the code.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Free ESPN text data achieves ~60-70% tracker accuracy. Paid coordinate feeds (Sportradar/Opta) would bring it to 100%.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Event-driven architecture with Kafka decouples 5 producers from 3 consumers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Unified enriched JSON schema normalizes heterogeneous data sources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Live match tracker with animated ball, possession, momentum, and commentary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PySpark Structured Streaming writes to PostgreSQL in 10-second micro-batches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Code quality score: 8.5/10 -- logging, docstrings, DRY, pinned deps, XSS prevention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14 Docker Compose services, single command to run the entire platform</a:t>
            </a:r>
          </a:p>
          <a:p>
            <a:pPr algn="l">
              <a:spcBef>
                <a:spcPts val="10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  Free data sources reach ~60-70% tracker accuracy; paid feeds unlock 100%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754880"/>
            <a:ext cx="8229600" cy="1463040"/>
          </a:xfrm>
          <a:prstGeom prst="roundRect">
            <a:avLst/>
          </a:prstGeom>
          <a:solidFill>
            <a:srgbClr val="25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4846320"/>
            <a:ext cx="7772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How to Run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00D4FF"/>
                </a:solidFill>
                <a:latin typeface="Calibri"/>
              </a:defRPr>
            </a:pPr>
            <a:r>
              <a:t>  docker compose up -d --build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  Scoreboard: localhost:5050  |  Kafka UI: localhost:8080  |  PostgreSQL: localhost:5433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99999"/>
                </a:solidFill>
                <a:latin typeface="Calibri"/>
              </a:defRPr>
            </a:pPr>
            <a:r>
              <a:t>  GitHub: github.com/dreamgroup-il/nba-proj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